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F59E0B"/>
                </a:solidFill>
              </a:rPr>
              <a:t>DRAFT — REQUIRES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400">
                <a:solidFill>
                  <a:srgbClr val="E8EDF5"/>
                </a:solidFill>
              </a:rPr>
              <a:t>Windows Threat Hunting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000">
                <a:solidFill>
                  <a:srgbClr val="06B6D4"/>
                </a:solidFill>
              </a:rPr>
              <a:t>Using Hayabusa and MITRE ATT&amp;CK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Dataset:  6 EVTX attack samples (EVTX-ATTACK-SAMPLES — public domain)</a:t>
            </a:r>
          </a:p>
          <a:p>
            <a:r>
              <a:rPr sz="1400">
                <a:solidFill>
                  <a:srgbClr val="94A3B8"/>
                </a:solidFill>
              </a:rPr>
              <a:t>Tool:     Hayabusa v4.2.0  |  Rules: Sigma community</a:t>
            </a:r>
          </a:p>
          <a:p>
            <a:r>
              <a:rPr sz="1400">
                <a:solidFill>
                  <a:srgbClr val="94A3B8"/>
                </a:solidFill>
              </a:rPr>
              <a:t>Findings: 8 documented (derived from 94 alerts)</a:t>
            </a:r>
          </a:p>
          <a:p>
            <a:r>
              <a:rPr sz="1400">
                <a:solidFill>
                  <a:srgbClr val="94A3B8"/>
                </a:solidFill>
              </a:rPr>
              <a:t>Analysis: 2026-10-01 UTC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59E0B"/>
                </a:solidFill>
              </a:rPr>
              <a:t>LIMITATIONS: 6 small attack-only samples. No benign baseline. Not a benchmark.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E8EDF5"/>
                </a:solidFill>
              </a:rPr>
              <a:t>Data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6B6D4"/>
                </a:solidFill>
              </a:rPr>
              <a:t>EVTX Sample Inventory (6 files)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• babyshark_mimikatz_powershell.evtx</a:t>
            </a:r>
          </a:p>
          <a:p>
            <a:r>
              <a:rPr sz="1000">
                <a:solidFill>
                  <a:srgbClr val="94A3B8"/>
                </a:solidFill>
              </a:rPr>
              <a:t>• CA_sysmon_hashdump_cmd_meterpreter.evtx</a:t>
            </a:r>
          </a:p>
          <a:p>
            <a:r>
              <a:rPr sz="1000">
                <a:solidFill>
                  <a:srgbClr val="94A3B8"/>
                </a:solidFill>
              </a:rPr>
              <a:t>• Exec_sysmon_meterpreter_reversetcp_msipackage.evtx</a:t>
            </a:r>
          </a:p>
          <a:p>
            <a:r>
              <a:rPr sz="1000">
                <a:solidFill>
                  <a:srgbClr val="94A3B8"/>
                </a:solidFill>
              </a:rPr>
              <a:t>• sysmon_10_11_lsass_memdump.evtx</a:t>
            </a:r>
          </a:p>
          <a:p>
            <a:r>
              <a:rPr sz="1000">
                <a:solidFill>
                  <a:srgbClr val="94A3B8"/>
                </a:solidFill>
              </a:rPr>
              <a:t>• sysmon_local_account_creation_and_added_admingroup_12_13.evtx</a:t>
            </a:r>
          </a:p>
          <a:p>
            <a:r>
              <a:rPr sz="1000">
                <a:solidFill>
                  <a:srgbClr val="94A3B8"/>
                </a:solidFill>
              </a:rPr>
              <a:t>• temp_scheduled_task_4698_4699.evtx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6B6D4"/>
                </a:solidFill>
              </a:rPr>
              <a:t>Tools &amp;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Hayabusa v4.2.0 — dfir-timeline</a:t>
            </a:r>
          </a:p>
          <a:p>
            <a:r>
              <a:rPr sz="1100">
                <a:solidFill>
                  <a:srgbClr val="94A3B8"/>
                </a:solidFill>
              </a:rPr>
              <a:t>4,674 detection rules (Sigma + Hayabusa)</a:t>
            </a:r>
          </a:p>
          <a:p>
            <a:r>
              <a:rPr sz="1100">
                <a:solidFill>
                  <a:srgbClr val="94A3B8"/>
                </a:solidFill>
              </a:rPr>
              <a:t>Source: EVTX-ATTACK-SAMPLES (sbousseaden)</a:t>
            </a:r>
          </a:p>
          <a:p>
            <a:r>
              <a:rPr sz="1100">
                <a:solidFill>
                  <a:srgbClr val="94A3B8"/>
                </a:solidFill>
              </a:rPr>
              <a:t>License: Public domain / CC0</a:t>
            </a:r>
          </a:p>
          <a:p>
            <a:r>
              <a:rPr sz="1100">
                <a:solidFill>
                  <a:srgbClr val="94A3B8"/>
                </a:solidFill>
              </a:rPr>
              <a:t>Processing: 5.404s for 6 files (408 KB)</a:t>
            </a:r>
          </a:p>
          <a:p>
            <a:r>
              <a:rPr sz="1100">
                <a:solidFill>
                  <a:srgbClr val="94A3B8"/>
                </a:solidFill>
              </a:rPr>
              <a:t>73 events → 94 total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59E0B"/>
                </a:solidFill>
              </a:rPr>
              <a:t>Data provenance: All EVTX files are publicly available attack samples. No production logs. No personal data. Authorisation documented in docs/lab_setup.md.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E8EDF5"/>
                </a:solidFill>
              </a:rPr>
              <a:t>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0B981"/>
                </a:solidFill>
              </a:rPr>
              <a:t>1. Data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88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6 EVTX samples → data/raw/working_copy/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0B981"/>
                </a:solidFill>
              </a:rPr>
              <a:t>2. Hayabusa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84708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dfir-timeline → outputs/raw/hayabusa_real_output.csv (94 alerts)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054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0B981"/>
                </a:solidFill>
              </a:rPr>
              <a:t>3.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05456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scripts/process_results.py → findings.csv, shortlist.csv,
timeline.csv, attack_mapping.csv, processed_data.json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0B981"/>
                </a:solidFill>
              </a:rPr>
              <a:t>4.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163824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scripts/evaluate_detection.py → evaluation.csv, evaluation.json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22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0B981"/>
                </a:solidFill>
              </a:rPr>
              <a:t>5. Navigator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2219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scripts/export_navigator_layer.py → attack_navigator_layer.json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0B981"/>
                </a:solidFill>
              </a:rPr>
              <a:t>6.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805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src/summary.html — live refresh (HTTP polling every 5s),
Evaluation tab, download buttons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38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0B981"/>
                </a:solidFill>
              </a:rPr>
              <a:t>7. Optional AI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13892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scripts/generate_ai_report.py — requires GEMINI_API_KEY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E8EDF5"/>
                </a:solidFill>
              </a:rPr>
              <a:t>Findings &amp; ATT&amp;CK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EF4444"/>
                </a:solidFill>
              </a:rPr>
              <a:t>Finding Status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Total findings: 8</a:t>
            </a:r>
          </a:p>
          <a:p>
            <a:r>
              <a:rPr sz="1200">
                <a:solidFill>
                  <a:srgbClr val="94A3B8"/>
                </a:solidFill>
              </a:rPr>
              <a:t>  validated_observation: 2</a:t>
            </a:r>
          </a:p>
          <a:p>
            <a:r>
              <a:rPr sz="1200">
                <a:solidFill>
                  <a:srgbClr val="94A3B8"/>
                </a:solidFill>
              </a:rPr>
              <a:t>  candidate:             6</a:t>
            </a:r>
          </a:p>
          <a:p>
            <a:r>
              <a:rPr sz="1200">
                <a:solidFill>
                  <a:srgbClr val="94A3B8"/>
                </a:solidFill>
              </a:rPr>
              <a:t>  inconclusive:         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EF4444"/>
                </a:solidFill>
              </a:rPr>
              <a:t>ATT&amp;CK Techniques (from attack_mapping.csv)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544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T1086 — PowerShell [F-05] (high)</a:t>
            </a:r>
          </a:p>
          <a:p>
            <a:r>
              <a:rPr sz="1000">
                <a:solidFill>
                  <a:srgbClr val="94A3B8"/>
                </a:solidFill>
              </a:rPr>
              <a:t>T1003 — OS Credential Dumping [F-06] (high)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E8EDF5"/>
                </a:solidFill>
              </a:rPr>
              <a:t>Sample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F-01  candidate  LSASS Process Memory Dump Files  [high]</a:t>
            </a:r>
          </a:p>
          <a:p>
            <a:r>
              <a:rPr sz="900">
                <a:solidFill>
                  <a:srgbClr val="94A3B8"/>
                </a:solidFill>
              </a:rPr>
              <a:t>F-02  candidate  LSASS Memory Access by Tool With Dump Keyword In Name  [high]</a:t>
            </a:r>
          </a:p>
          <a:p>
            <a:r>
              <a:rPr sz="900">
                <a:solidFill>
                  <a:srgbClr val="94A3B8"/>
                </a:solidFill>
              </a:rPr>
              <a:t>F-03  candidate  Suspicious Process Access to LSASS with Dbgcore/Dbghelp DLLs  [high]</a:t>
            </a:r>
          </a:p>
          <a:p>
            <a:r>
              <a:rPr sz="900">
                <a:solidFill>
                  <a:srgbClr val="94A3B8"/>
                </a:solidFill>
              </a:rPr>
              <a:t>F-04  candidate  LSASS Process Memory Dump Creation Via Taskmgr.EXE  [high]</a:t>
            </a:r>
          </a:p>
          <a:p>
            <a:r>
              <a:rPr sz="900">
                <a:solidFill>
                  <a:srgbClr val="94A3B8"/>
                </a:solidFill>
              </a:rPr>
              <a:t>F-05  validated_observation  Proc Exec (Sysmon Alert)  [high]</a:t>
            </a:r>
          </a:p>
          <a:p>
            <a:r>
              <a:rPr sz="900">
                <a:solidFill>
                  <a:srgbClr val="94A3B8"/>
                </a:solidFill>
              </a:rPr>
              <a:t>F-06  validated_observation  Proc Access (Sysmon Alert)  [high]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E8EDF5"/>
                </a:solidFill>
              </a:rPr>
              <a:t>Detection Evaluation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59E0B"/>
                </a:solidFill>
              </a:rPr>
              <a:t>Evaluation Metrics (approximate)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Total samples evaluated:  6</a:t>
            </a:r>
          </a:p>
          <a:p>
            <a:r>
              <a:rPr sz="1100">
                <a:solidFill>
                  <a:srgbClr val="94A3B8"/>
                </a:solidFill>
              </a:rPr>
              <a:t>Samples with alerts (hit): 6</a:t>
            </a:r>
          </a:p>
          <a:p>
            <a:r>
              <a:rPr sz="1100">
                <a:solidFill>
                  <a:srgbClr val="94A3B8"/>
                </a:solidFill>
              </a:rPr>
              <a:t>Samples missed:            0</a:t>
            </a:r>
          </a:p>
          <a:p>
            <a:r>
              <a:rPr sz="1100">
                <a:solidFill>
                  <a:srgbClr val="94A3B8"/>
                </a:solidFill>
              </a:rPr>
              <a:t>Samples uncertain:         0</a:t>
            </a:r>
          </a:p>
          <a:p>
            <a:r>
              <a:rPr sz="1100">
                <a:solidFill>
                  <a:srgbClr val="94A3B8"/>
                </a:solidFill>
              </a:rPr>
              <a:t>Hayabusa processing time:  5.404s</a:t>
            </a:r>
          </a:p>
          <a:p>
            <a:r>
              <a:rPr sz="1100">
                <a:solidFill>
                  <a:srgbClr val="94A3B8"/>
                </a:solidFill>
              </a:rPr>
              <a:t/>
            </a:r>
          </a:p>
          <a:p>
            <a:r>
              <a:rPr sz="1100">
                <a:solidFill>
                  <a:srgbClr val="94A3B8"/>
                </a:solidFill>
              </a:rPr>
              <a:t>Note: attribution inferred from hostname patterns.</a:t>
            </a:r>
          </a:p>
          <a:p>
            <a:r>
              <a:rPr sz="1100">
                <a:solidFill>
                  <a:srgbClr val="94A3B8"/>
                </a:solidFill>
              </a:rPr>
              <a:t>NOT a precision/recall/benchmark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59E0B"/>
                </a:solidFill>
              </a:rPr>
              <a:t>Key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• 6 small attack-only EVTX samples</a:t>
            </a:r>
          </a:p>
          <a:p>
            <a:r>
              <a:rPr sz="1100">
                <a:solidFill>
                  <a:srgbClr val="94A3B8"/>
                </a:solidFill>
              </a:rPr>
              <a:t>• No benign baseline — cannot compute FPR</a:t>
            </a:r>
          </a:p>
          <a:p>
            <a:r>
              <a:rPr sz="1100">
                <a:solidFill>
                  <a:srgbClr val="94A3B8"/>
                </a:solidFill>
              </a:rPr>
              <a:t>• Results ≠ production detection performance</a:t>
            </a:r>
          </a:p>
          <a:p>
            <a:r>
              <a:rPr sz="1100">
                <a:solidFill>
                  <a:srgbClr val="94A3B8"/>
                </a:solidFill>
              </a:rPr>
              <a:t>• Hostname→EVTX attribution is approximate</a:t>
            </a:r>
          </a:p>
          <a:p>
            <a:r>
              <a:rPr sz="1100">
                <a:solidFill>
                  <a:srgbClr val="94A3B8"/>
                </a:solidFill>
              </a:rPr>
              <a:t>• Rule-based detection only (Sigma/Hayabusa)</a:t>
            </a:r>
          </a:p>
          <a:p>
            <a:r>
              <a:rPr sz="1100">
                <a:solidFill>
                  <a:srgbClr val="94A3B8"/>
                </a:solidFill>
              </a:rPr>
              <a:t>• No network telemetry available</a:t>
            </a:r>
          </a:p>
          <a:p>
            <a:r>
              <a:rPr sz="1100">
                <a:solidFill>
                  <a:srgbClr val="94A3B8"/>
                </a:solidFill>
              </a:rPr>
              <a:t>• Script block logging not in sample</a:t>
            </a:r>
          </a:p>
          <a:p>
            <a:r>
              <a:rPr sz="1100">
                <a:solidFill>
                  <a:srgbClr val="94A3B8"/>
                </a:solidFill>
              </a:rPr>
              <a:t>• Batch file content not captured (F-04)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59E0B"/>
                </a:solidFill>
              </a:rPr>
              <a:t>Test coverage: 111 unit tests (27/27 validation checks PASS). Selenium browser tests: NOT TESTED (ChromeDriver not installed). Live Gemini API: NOT TESTED (key not set).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E8EDF5"/>
                </a:solidFill>
              </a:rPr>
              <a:t>Dashboard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src/summary.html — interactive threat hunting dashboard</a:t>
            </a:r>
          </a:p>
          <a:p>
            <a:r>
              <a:rPr sz="1000">
                <a:solidFill>
                  <a:srgbClr val="94A3B8"/>
                </a:solidFill>
              </a:rPr>
              <a:t/>
            </a:r>
          </a:p>
          <a:p>
            <a:r>
              <a:rPr sz="1000">
                <a:solidFill>
                  <a:srgbClr val="94A3B8"/>
                </a:solidFill>
              </a:rPr>
              <a:t>Features implemented:</a:t>
            </a:r>
          </a:p>
          <a:p>
            <a:r>
              <a:rPr sz="1000">
                <a:solidFill>
                  <a:srgbClr val="94A3B8"/>
                </a:solidFill>
              </a:rPr>
              <a:t>  • Tab navigation: Findings tab + Evaluation tab</a:t>
            </a:r>
          </a:p>
          <a:p>
            <a:r>
              <a:rPr sz="1000">
                <a:solidFill>
                  <a:srgbClr val="94A3B8"/>
                </a:solidFill>
              </a:rPr>
              <a:t>  • Live refresh: polls outputs/processed_data.json every 5s (HTTP only)</a:t>
            </a:r>
          </a:p>
          <a:p>
            <a:r>
              <a:rPr sz="1000">
                <a:solidFill>
                  <a:srgbClr val="94A3B8"/>
                </a:solidFill>
              </a:rPr>
              <a:t>  • Compares run_timestamp to avoid redundant re-renders</a:t>
            </a:r>
          </a:p>
          <a:p>
            <a:r>
              <a:rPr sz="1000">
                <a:solidFill>
                  <a:srgbClr val="94A3B8"/>
                </a:solidFill>
              </a:rPr>
              <a:t>  • Pause/Resume toggle — stops/restarts polling</a:t>
            </a:r>
          </a:p>
          <a:p>
            <a:r>
              <a:rPr sz="1000">
                <a:solidFill>
                  <a:srgbClr val="94A3B8"/>
                </a:solidFill>
              </a:rPr>
              <a:t>  • Live status indicator: 'Live: last updated HH:MM:SS'</a:t>
            </a:r>
          </a:p>
          <a:p>
            <a:r>
              <a:rPr sz="1000">
                <a:solidFill>
                  <a:srgbClr val="94A3B8"/>
                </a:solidFill>
              </a:rPr>
              <a:t>  • Stale data warning on fetch failure</a:t>
            </a:r>
          </a:p>
          <a:p>
            <a:r>
              <a:rPr sz="1000">
                <a:solidFill>
                  <a:srgbClr val="94A3B8"/>
                </a:solidFill>
              </a:rPr>
              <a:t>  • file:// mode explained with clear fallback</a:t>
            </a:r>
          </a:p>
          <a:p>
            <a:r>
              <a:rPr sz="1000">
                <a:solidFill>
                  <a:srgbClr val="94A3B8"/>
                </a:solidFill>
              </a:rPr>
              <a:t>  • Download ATT&amp;CK Navigator Layer button</a:t>
            </a:r>
          </a:p>
          <a:p>
            <a:r>
              <a:rPr sz="1000">
                <a:solidFill>
                  <a:srgbClr val="94A3B8"/>
                </a:solidFill>
              </a:rPr>
              <a:t>  • Download Findings CSV button (contract headers preserved)</a:t>
            </a:r>
          </a:p>
          <a:p>
            <a:r>
              <a:rPr sz="1000">
                <a:solidFill>
                  <a:srgbClr val="94A3B8"/>
                </a:solidFill>
              </a:rPr>
              <a:t>  • Evaluation tab: per-sample hit/miss/uncertain + limitations</a:t>
            </a:r>
          </a:p>
          <a:p>
            <a:r>
              <a:rPr sz="1000">
                <a:solidFill>
                  <a:srgbClr val="94A3B8"/>
                </a:solidFill>
              </a:rPr>
              <a:t/>
            </a:r>
          </a:p>
          <a:p>
            <a:r>
              <a:rPr sz="1000">
                <a:solidFill>
                  <a:srgbClr val="94A3B8"/>
                </a:solidFill>
              </a:rPr>
              <a:t>To serve: python -m http.server 8080</a:t>
            </a:r>
          </a:p>
          <a:p>
            <a:r>
              <a:rPr sz="1000">
                <a:solidFill>
                  <a:srgbClr val="94A3B8"/>
                </a:solidFill>
              </a:rPr>
              <a:t>Then open: http://localhost:8080/src/summary.html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09728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Deliverables generated:</a:t>
            </a:r>
          </a:p>
          <a:p>
            <a:r>
              <a:rPr sz="1000">
                <a:solidFill>
                  <a:srgbClr val="94A3B8"/>
                </a:solidFill>
              </a:rPr>
              <a:t>  outputs/evaluation.csv / .json</a:t>
            </a:r>
          </a:p>
          <a:p>
            <a:r>
              <a:rPr sz="1000">
                <a:solidFill>
                  <a:srgbClr val="94A3B8"/>
                </a:solidFill>
              </a:rPr>
              <a:t>  outputs/attack_navigator_layer.json</a:t>
            </a:r>
          </a:p>
          <a:p>
            <a:r>
              <a:rPr sz="1000">
                <a:solidFill>
                  <a:srgbClr val="94A3B8"/>
                </a:solidFill>
              </a:rPr>
              <a:t>  scripts/validate_outputs.py (27 checks)</a:t>
            </a:r>
          </a:p>
          <a:p>
            <a:r>
              <a:rPr sz="1000">
                <a:solidFill>
                  <a:srgbClr val="94A3B8"/>
                </a:solidFill>
              </a:rPr>
              <a:t>  scripts/evaluate_detection.py</a:t>
            </a:r>
          </a:p>
          <a:p>
            <a:r>
              <a:rPr sz="1000">
                <a:solidFill>
                  <a:srgbClr val="94A3B8"/>
                </a:solidFill>
              </a:rPr>
              <a:t>  scripts/export_navigator_layer.py</a:t>
            </a:r>
          </a:p>
          <a:p>
            <a:r>
              <a:rPr sz="1000">
                <a:solidFill>
                  <a:srgbClr val="94A3B8"/>
                </a:solidFill>
              </a:rPr>
              <a:t>  scripts/generate_ai_report.py (optional)</a:t>
            </a:r>
          </a:p>
          <a:p>
            <a:r>
              <a:rPr sz="1000">
                <a:solidFill>
                  <a:srgbClr val="94A3B8"/>
                </a:solidFill>
              </a:rPr>
              <a:t>  tests/ — 111 unit tests</a:t>
            </a:r>
          </a:p>
          <a:p>
            <a:r>
              <a:rPr sz="1000">
                <a:solidFill>
                  <a:srgbClr val="94A3B8"/>
                </a:solidFill>
              </a:rPr>
              <a:t>  report/presentation.pptx (this file)</a:t>
            </a:r>
          </a:p>
          <a:p>
            <a:r>
              <a:rPr sz="1000">
                <a:solidFill>
                  <a:srgbClr val="94A3B8"/>
                </a:solidFill>
              </a:rPr>
              <a:t>  report/final_report.md (updated)</a:t>
            </a:r>
          </a:p>
          <a:p>
            <a:r>
              <a:rPr sz="1000">
                <a:solidFill>
                  <a:srgbClr val="94A3B8"/>
                </a:solidFill>
              </a:rPr>
              <a:t>  docs/architecture.md (new)</a:t>
            </a:r>
          </a:p>
          <a:p>
            <a:r>
              <a:rPr sz="1000">
                <a:solidFill>
                  <a:srgbClr val="94A3B8"/>
                </a:solidFill>
              </a:rPr>
              <a:t/>
            </a:r>
          </a:p>
          <a:p>
            <a:r>
              <a:rPr sz="1000">
                <a:solidFill>
                  <a:srgbClr val="94A3B8"/>
                </a:solidFill>
              </a:rPr>
              <a:t>⚠ No screenshots available</a:t>
            </a:r>
          </a:p>
          <a:p>
            <a:r>
              <a:rPr sz="1000">
                <a:solidFill>
                  <a:srgbClr val="94A3B8"/>
                </a:solidFill>
              </a:rPr>
              <a:t>  (file:// access; browser tests NOT TESTED)</a:t>
            </a:r>
          </a:p>
          <a:p>
            <a:r>
              <a:rPr sz="1000">
                <a:solidFill>
                  <a:srgbClr val="94A3B8"/>
                </a:solidFill>
              </a:rPr>
              <a:t/>
            </a:r>
          </a:p>
          <a:p>
            <a:r>
              <a:rPr sz="1000">
                <a:solidFill>
                  <a:srgbClr val="94A3B8"/>
                </a:solidFill>
              </a:rPr>
              <a:t>DRAFT — requires human review and 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